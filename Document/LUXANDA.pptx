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25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141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804552-9687-48EE-9544-2612284DEAC6}" type="datetimeFigureOut">
              <a:rPr lang="fr-FR" smtClean="0"/>
              <a:t>20/08/2025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26954-B8A3-4583-84A5-DE8A246B1C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9438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26954-B8A3-4583-84A5-DE8A246B1CA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4936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8E36636D-D922-432D-A958-524484B5923D}" type="datetimeFigureOut">
              <a:rPr lang="en-US" smtClean="0"/>
              <a:pPr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020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665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8E36636D-D922-432D-A958-524484B5923D}" type="datetimeFigureOut">
              <a:rPr lang="en-US" smtClean="0"/>
              <a:pPr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156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8/20/2025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6710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8/20/2025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6696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8/20/2025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530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8/20/2025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647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8/20/2025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375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8/20/2025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799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8/20/2025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583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8/20/2025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6723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8/20/2025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1989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8/20/2025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DF28FB93-0A08-4E7D-8E63-9EFA29F1E09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8630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8/20/2025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083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8/20/2025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1472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smtClean="0"/>
              <a:pPr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067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8E36636D-D922-432D-A958-524484B5923D}" type="datetimeFigureOut">
              <a:rPr lang="en-US" smtClean="0"/>
              <a:pPr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DF28FB93-0A08-4E7D-8E63-9EFA29F1E09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623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6636D-D922-432D-A958-524484B5923D}" type="datetimeFigureOut">
              <a:rPr lang="en-US" smtClean="0"/>
              <a:pPr/>
              <a:t>8/20/2025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8FB93-0A08-4E7D-8E63-9EFA29F1E093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0512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6" r:id="rId1"/>
    <p:sldLayoutId id="2147483927" r:id="rId2"/>
    <p:sldLayoutId id="2147483928" r:id="rId3"/>
    <p:sldLayoutId id="2147483929" r:id="rId4"/>
    <p:sldLayoutId id="2147483930" r:id="rId5"/>
    <p:sldLayoutId id="2147483931" r:id="rId6"/>
    <p:sldLayoutId id="2147483932" r:id="rId7"/>
    <p:sldLayoutId id="2147483933" r:id="rId8"/>
    <p:sldLayoutId id="2147483934" r:id="rId9"/>
    <p:sldLayoutId id="2147483935" r:id="rId10"/>
    <p:sldLayoutId id="2147483936" r:id="rId11"/>
    <p:sldLayoutId id="2147483937" r:id="rId12"/>
    <p:sldLayoutId id="2147483938" r:id="rId13"/>
    <p:sldLayoutId id="2147483939" r:id="rId14"/>
    <p:sldLayoutId id="2147483940" r:id="rId15"/>
    <p:sldLayoutId id="2147483941" r:id="rId16"/>
    <p:sldLayoutId id="214748394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05ED55-3381-8D23-558E-0151710D6F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sz="7200" b="1" dirty="0"/>
              <a:t>LUXANDA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ADAB68C-DD33-5283-5D0C-886BA98B3B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242" y="4408107"/>
            <a:ext cx="6108101" cy="1117687"/>
          </a:xfrm>
        </p:spPr>
        <p:txBody>
          <a:bodyPr/>
          <a:lstStyle/>
          <a:p>
            <a:r>
              <a:rPr lang="fr-FR" i="1" dirty="0"/>
              <a:t>Description stratégique du projet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32B66C5B-EAFD-EFCF-65D5-22E970984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958" y="2565240"/>
            <a:ext cx="2339042" cy="168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43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CE5174-A714-8F10-7309-BE80C2CCB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sz="5400" dirty="0"/>
              <a:t>SOMMAIRE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8904BA5-6042-C1C3-9116-864A2C419DA8}"/>
              </a:ext>
            </a:extLst>
          </p:cNvPr>
          <p:cNvSpPr txBox="1"/>
          <p:nvPr/>
        </p:nvSpPr>
        <p:spPr>
          <a:xfrm>
            <a:off x="531639" y="2293034"/>
            <a:ext cx="404036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Georgia" panose="02040502050405020303" pitchFamily="18" charset="0"/>
              </a:rPr>
              <a:t>Nom du projet;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Georgia" panose="02040502050405020303" pitchFamily="18" charset="0"/>
              </a:rPr>
              <a:t>Vision du projet;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Georgia" panose="02040502050405020303" pitchFamily="18" charset="0"/>
              </a:rPr>
              <a:t>Objectifs principaux;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Georgia" panose="02040502050405020303" pitchFamily="18" charset="0"/>
              </a:rPr>
              <a:t>Cibles;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Georgia" panose="02040502050405020303" pitchFamily="18" charset="0"/>
              </a:rPr>
              <a:t>Modèle économique;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Georgia" panose="02040502050405020303" pitchFamily="18" charset="0"/>
              </a:rPr>
              <a:t>Avantage compétitif;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400" dirty="0">
                <a:latin typeface="Georgia" panose="02040502050405020303" pitchFamily="18" charset="0"/>
              </a:rPr>
              <a:t>Etapes prévus.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614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1DCE63-1579-A784-4DB7-50B9C6388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dirty="0"/>
              <a:t>Nom du Projet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094582E-A953-EC40-637D-FCA50842FE0B}"/>
              </a:ext>
            </a:extLst>
          </p:cNvPr>
          <p:cNvSpPr txBox="1"/>
          <p:nvPr/>
        </p:nvSpPr>
        <p:spPr>
          <a:xfrm>
            <a:off x="773723" y="2470017"/>
            <a:ext cx="43328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b="1" i="1" dirty="0">
                <a:solidFill>
                  <a:srgbClr val="002060"/>
                </a:solidFill>
              </a:rPr>
              <a:t>LUXANDA</a:t>
            </a:r>
            <a:r>
              <a:rPr lang="fr-FR" sz="2400" b="1" i="1" dirty="0"/>
              <a:t>- Le Marché Virtuel Africain Moderne</a:t>
            </a:r>
          </a:p>
        </p:txBody>
      </p:sp>
      <p:pic>
        <p:nvPicPr>
          <p:cNvPr id="10" name="Picture 1">
            <a:extLst>
              <a:ext uri="{FF2B5EF4-FFF2-40B4-BE49-F238E27FC236}">
                <a16:creationId xmlns:a16="http://schemas.microsoft.com/office/drawing/2014/main" id="{78D0833C-9ABA-D26B-0285-70BE3D2D4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957" y="3429000"/>
            <a:ext cx="4041233" cy="212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5880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03BEED-EC5F-5886-68CF-8E17817AF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639" y="2883606"/>
            <a:ext cx="6889150" cy="1090788"/>
          </a:xfrm>
        </p:spPr>
        <p:txBody>
          <a:bodyPr/>
          <a:lstStyle/>
          <a:p>
            <a:r>
              <a:rPr lang="fr-FR" dirty="0"/>
              <a:t>Vision du Projet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FCC2FC-5F41-F975-A768-0BA1919AC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200" dirty="0" err="1"/>
              <a:t>Créer</a:t>
            </a:r>
            <a:r>
              <a:rPr lang="en-US" sz="2200" dirty="0"/>
              <a:t> un </a:t>
            </a:r>
            <a:r>
              <a:rPr lang="en-US" sz="2200" dirty="0" err="1"/>
              <a:t>marché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ligne</a:t>
            </a:r>
            <a:r>
              <a:rPr lang="en-US" sz="2200" dirty="0"/>
              <a:t> </a:t>
            </a:r>
            <a:r>
              <a:rPr lang="en-US" sz="2200" dirty="0" err="1"/>
              <a:t>panafricain</a:t>
            </a:r>
            <a:r>
              <a:rPr lang="en-US" sz="2200" dirty="0"/>
              <a:t> </a:t>
            </a:r>
            <a:r>
              <a:rPr lang="en-US" sz="2200" dirty="0" err="1"/>
              <a:t>fiable</a:t>
            </a:r>
            <a:r>
              <a:rPr lang="en-US" sz="2200" dirty="0"/>
              <a:t>, </a:t>
            </a:r>
            <a:r>
              <a:rPr lang="en-US" sz="2200" dirty="0" err="1"/>
              <a:t>élégant</a:t>
            </a:r>
            <a:r>
              <a:rPr lang="en-US" sz="2200" dirty="0"/>
              <a:t> et accessible, </a:t>
            </a:r>
            <a:r>
              <a:rPr lang="en-US" sz="2200" dirty="0" err="1"/>
              <a:t>mettant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valeur</a:t>
            </a:r>
            <a:r>
              <a:rPr lang="en-US" sz="2200" dirty="0"/>
              <a:t> les </a:t>
            </a:r>
            <a:r>
              <a:rPr lang="en-US" sz="2200" dirty="0" err="1"/>
              <a:t>vendeurs</a:t>
            </a:r>
            <a:r>
              <a:rPr lang="en-US" sz="2200" dirty="0"/>
              <a:t> </a:t>
            </a:r>
            <a:r>
              <a:rPr lang="en-US" sz="2200" dirty="0" err="1"/>
              <a:t>locaux</a:t>
            </a:r>
            <a:r>
              <a:rPr lang="en-US" sz="2200" dirty="0"/>
              <a:t> et </a:t>
            </a:r>
            <a:r>
              <a:rPr lang="en-US" sz="2200" dirty="0" err="1"/>
              <a:t>offrant</a:t>
            </a:r>
            <a:r>
              <a:rPr lang="en-US" sz="2200" dirty="0"/>
              <a:t> </a:t>
            </a:r>
            <a:r>
              <a:rPr lang="en-US" sz="2200" dirty="0" err="1"/>
              <a:t>une</a:t>
            </a:r>
            <a:r>
              <a:rPr lang="en-US" sz="2200" dirty="0"/>
              <a:t> </a:t>
            </a:r>
            <a:r>
              <a:rPr lang="en-US" sz="2200" dirty="0" err="1"/>
              <a:t>expérience</a:t>
            </a:r>
            <a:r>
              <a:rPr lang="en-US" sz="2200" dirty="0"/>
              <a:t> </a:t>
            </a:r>
            <a:r>
              <a:rPr lang="en-US" sz="2200" dirty="0" err="1"/>
              <a:t>utilisateur</a:t>
            </a:r>
            <a:r>
              <a:rPr lang="en-US" sz="2200" dirty="0"/>
              <a:t> </a:t>
            </a:r>
            <a:r>
              <a:rPr lang="en-US" sz="2200" dirty="0" err="1"/>
              <a:t>fluide</a:t>
            </a:r>
            <a:r>
              <a:rPr lang="en-US" sz="2200" dirty="0"/>
              <a:t>, </a:t>
            </a:r>
            <a:r>
              <a:rPr lang="en-US" sz="2200" dirty="0" err="1"/>
              <a:t>motivante</a:t>
            </a:r>
            <a:r>
              <a:rPr lang="en-US" sz="2200" dirty="0"/>
              <a:t> et </a:t>
            </a:r>
            <a:r>
              <a:rPr lang="en-US" sz="2200" dirty="0" err="1"/>
              <a:t>sécurisée</a:t>
            </a:r>
            <a:r>
              <a:rPr lang="en-US" sz="2200" dirty="0"/>
              <a:t>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808362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B48923-1B85-D292-EE4F-BA49E9702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dirty="0"/>
              <a:t>Objectifs principaux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7238F7F-8F36-9BF9-DC2A-BB3036C50265}"/>
              </a:ext>
            </a:extLst>
          </p:cNvPr>
          <p:cNvSpPr txBox="1"/>
          <p:nvPr/>
        </p:nvSpPr>
        <p:spPr>
          <a:xfrm>
            <a:off x="815926" y="2546252"/>
            <a:ext cx="500809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Georgia" panose="02040502050405020303" pitchFamily="18" charset="0"/>
              </a:rPr>
              <a:t>Offrir</a:t>
            </a:r>
            <a:r>
              <a:rPr lang="en-US" sz="2000" dirty="0">
                <a:latin typeface="Georgia" panose="02040502050405020303" pitchFamily="18" charset="0"/>
              </a:rPr>
              <a:t> un </a:t>
            </a:r>
            <a:r>
              <a:rPr lang="en-US" sz="2000" dirty="0" err="1">
                <a:latin typeface="Georgia" panose="02040502050405020303" pitchFamily="18" charset="0"/>
              </a:rPr>
              <a:t>espace</a:t>
            </a:r>
            <a:r>
              <a:rPr lang="en-US" sz="2000" dirty="0">
                <a:latin typeface="Georgia" panose="02040502050405020303" pitchFamily="18" charset="0"/>
              </a:rPr>
              <a:t> de vente premium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Georgia" panose="02040502050405020303" pitchFamily="18" charset="0"/>
              </a:rPr>
              <a:t>Récompenser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l’engagement</a:t>
            </a:r>
            <a:r>
              <a:rPr lang="en-US" sz="2000" dirty="0">
                <a:latin typeface="Georgia" panose="02040502050405020303" pitchFamily="18" charset="0"/>
              </a:rPr>
              <a:t> des </a:t>
            </a:r>
            <a:r>
              <a:rPr lang="en-US" sz="2000" dirty="0" err="1">
                <a:latin typeface="Georgia" panose="02040502050405020303" pitchFamily="18" charset="0"/>
              </a:rPr>
              <a:t>visiteurs</a:t>
            </a:r>
            <a:endParaRPr lang="en-US" sz="20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Georgia" panose="02040502050405020303" pitchFamily="18" charset="0"/>
              </a:rPr>
              <a:t>Déployer</a:t>
            </a:r>
            <a:r>
              <a:rPr lang="en-US" sz="2000" dirty="0">
                <a:latin typeface="Georgia" panose="02040502050405020303" pitchFamily="18" charset="0"/>
              </a:rPr>
              <a:t> un </a:t>
            </a:r>
            <a:r>
              <a:rPr lang="en-US" sz="2000" dirty="0" err="1">
                <a:latin typeface="Georgia" panose="02040502050405020303" pitchFamily="18" charset="0"/>
              </a:rPr>
              <a:t>système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d’affiliation</a:t>
            </a:r>
            <a:r>
              <a:rPr lang="en-US" sz="2000" dirty="0">
                <a:latin typeface="Georgia" panose="02040502050405020303" pitchFamily="18" charset="0"/>
              </a:rPr>
              <a:t> puissant et </a:t>
            </a:r>
            <a:r>
              <a:rPr lang="en-US" sz="2000" dirty="0" err="1">
                <a:latin typeface="Georgia" panose="02040502050405020303" pitchFamily="18" charset="0"/>
              </a:rPr>
              <a:t>éthique</a:t>
            </a:r>
            <a:endParaRPr lang="en-US" sz="20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Georgia" panose="02040502050405020303" pitchFamily="18" charset="0"/>
              </a:rPr>
              <a:t>Devenir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une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référence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africaine</a:t>
            </a:r>
            <a:r>
              <a:rPr lang="en-US" sz="2000" dirty="0">
                <a:latin typeface="Georgia" panose="02040502050405020303" pitchFamily="18" charset="0"/>
              </a:rPr>
              <a:t> du commerce </a:t>
            </a:r>
            <a:r>
              <a:rPr lang="en-US" sz="2000" dirty="0" err="1">
                <a:latin typeface="Georgia" panose="02040502050405020303" pitchFamily="18" charset="0"/>
              </a:rPr>
              <a:t>en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ligne</a:t>
            </a:r>
            <a:endParaRPr lang="fr-FR" sz="2000" dirty="0">
              <a:latin typeface="Georgia" panose="02040502050405020303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9336990"/>
      </p:ext>
    </p:extLst>
  </p:cSld>
  <p:clrMapOvr>
    <a:masterClrMapping/>
  </p:clrMapOvr>
  <p:transition spd="slow">
    <p:comb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643D31-7A84-3239-0BA3-A3E26A3A8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dirty="0"/>
              <a:t>Cible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1AA1123-1C9B-0380-D16C-04DEACDA8BC3}"/>
              </a:ext>
            </a:extLst>
          </p:cNvPr>
          <p:cNvSpPr txBox="1"/>
          <p:nvPr/>
        </p:nvSpPr>
        <p:spPr>
          <a:xfrm>
            <a:off x="531639" y="2293034"/>
            <a:ext cx="4631204" cy="2806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Commerçants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: </a:t>
            </a:r>
            <a:r>
              <a:rPr lang="en-US" sz="2000" dirty="0" err="1">
                <a:latin typeface="Georgia" panose="02040502050405020303" pitchFamily="18" charset="0"/>
              </a:rPr>
              <a:t>visibilité</a:t>
            </a:r>
            <a:r>
              <a:rPr lang="en-US" sz="2000" dirty="0">
                <a:latin typeface="Georgia" panose="02040502050405020303" pitchFamily="18" charset="0"/>
              </a:rPr>
              <a:t> et </a:t>
            </a:r>
            <a:r>
              <a:rPr lang="en-US" sz="2000" dirty="0" err="1">
                <a:latin typeface="Georgia" panose="02040502050405020303" pitchFamily="18" charset="0"/>
              </a:rPr>
              <a:t>outils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professionnels</a:t>
            </a:r>
            <a:endParaRPr lang="en-US" sz="20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Visiteurs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: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expérience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fluide</a:t>
            </a:r>
            <a:r>
              <a:rPr lang="en-US" sz="2000" dirty="0">
                <a:latin typeface="Georgia" panose="02040502050405020303" pitchFamily="18" charset="0"/>
              </a:rPr>
              <a:t> et </a:t>
            </a:r>
            <a:r>
              <a:rPr lang="en-US" sz="2000" dirty="0" err="1">
                <a:latin typeface="Georgia" panose="02040502050405020303" pitchFamily="18" charset="0"/>
              </a:rPr>
              <a:t>motivante</a:t>
            </a:r>
            <a:endParaRPr lang="en-US" sz="20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Affiliés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:</a:t>
            </a:r>
            <a:r>
              <a:rPr lang="en-US" sz="2000" b="1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vendeurs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actifs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parrainant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d’autres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vendeurs</a:t>
            </a:r>
            <a:endParaRPr lang="fr-FR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847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52D2ED-24AE-C91A-A280-DD1A77C07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dirty="0"/>
              <a:t>Modèle économique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BA7EC9E-FA30-8F0B-D619-A83806A6C27C}"/>
              </a:ext>
            </a:extLst>
          </p:cNvPr>
          <p:cNvSpPr txBox="1"/>
          <p:nvPr/>
        </p:nvSpPr>
        <p:spPr>
          <a:xfrm>
            <a:off x="548640" y="2489982"/>
            <a:ext cx="4656406" cy="2806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Commerçants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:</a:t>
            </a:r>
            <a:r>
              <a:rPr lang="en-US" sz="2000" dirty="0">
                <a:latin typeface="Georgia" panose="02040502050405020303" pitchFamily="18" charset="0"/>
              </a:rPr>
              <a:t> abonnements </a:t>
            </a:r>
            <a:r>
              <a:rPr lang="en-US" sz="2000" dirty="0" err="1">
                <a:latin typeface="Georgia" panose="02040502050405020303" pitchFamily="18" charset="0"/>
              </a:rPr>
              <a:t>mensuels</a:t>
            </a:r>
            <a:endParaRPr lang="en-US" sz="20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Affiliés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:</a:t>
            </a:r>
            <a:r>
              <a:rPr lang="en-US" sz="2000" dirty="0">
                <a:latin typeface="Georgia" panose="02040502050405020303" pitchFamily="18" charset="0"/>
              </a:rPr>
              <a:t> commissions 30 % / 10 %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Visiteurs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: </a:t>
            </a:r>
            <a:r>
              <a:rPr lang="en-US" sz="2000" dirty="0" err="1">
                <a:latin typeface="Georgia" panose="02040502050405020303" pitchFamily="18" charset="0"/>
              </a:rPr>
              <a:t>accès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gratuit</a:t>
            </a:r>
            <a:r>
              <a:rPr lang="en-US" sz="2000" dirty="0">
                <a:latin typeface="Georgia" panose="02040502050405020303" pitchFamily="18" charset="0"/>
              </a:rPr>
              <a:t> + points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Offres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annexes : </a:t>
            </a:r>
            <a:r>
              <a:rPr lang="en-US" sz="2000" dirty="0">
                <a:latin typeface="Georgia" panose="02040502050405020303" pitchFamily="18" charset="0"/>
              </a:rPr>
              <a:t>sponsoring, </a:t>
            </a:r>
            <a:r>
              <a:rPr lang="en-US" sz="2000" dirty="0" err="1">
                <a:latin typeface="Georgia" panose="02040502050405020303" pitchFamily="18" charset="0"/>
              </a:rPr>
              <a:t>visibilité</a:t>
            </a:r>
            <a:endParaRPr lang="fr-FR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676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9E14CC-2283-E336-DC8A-1CBB49BCA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dirty="0"/>
              <a:t>Avantages compétitifs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C26D354-7FD8-937E-50F7-F7C241747134}"/>
              </a:ext>
            </a:extLst>
          </p:cNvPr>
          <p:cNvSpPr txBox="1"/>
          <p:nvPr/>
        </p:nvSpPr>
        <p:spPr>
          <a:xfrm>
            <a:off x="801858" y="2419643"/>
            <a:ext cx="4951828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100 % local, </a:t>
            </a:r>
            <a:r>
              <a:rPr lang="en-US" sz="2000" dirty="0" err="1">
                <a:latin typeface="Georgia" panose="02040502050405020303" pitchFamily="18" charset="0"/>
              </a:rPr>
              <a:t>adapté</a:t>
            </a:r>
            <a:r>
              <a:rPr lang="en-US" sz="2000" dirty="0">
                <a:latin typeface="Georgia" panose="02040502050405020303" pitchFamily="18" charset="0"/>
              </a:rPr>
              <a:t> au </a:t>
            </a:r>
            <a:r>
              <a:rPr lang="en-US" sz="2000" dirty="0" err="1">
                <a:latin typeface="Georgia" panose="02040502050405020303" pitchFamily="18" charset="0"/>
              </a:rPr>
              <a:t>contexte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africain</a:t>
            </a:r>
            <a:endParaRPr lang="en-US" sz="20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Interface simple et </a:t>
            </a:r>
            <a:r>
              <a:rPr lang="en-US" sz="2000" dirty="0" err="1">
                <a:latin typeface="Georgia" panose="02040502050405020303" pitchFamily="18" charset="0"/>
              </a:rPr>
              <a:t>rapide</a:t>
            </a:r>
            <a:endParaRPr lang="en-US" sz="20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Georgia" panose="02040502050405020303" pitchFamily="18" charset="0"/>
              </a:rPr>
              <a:t>Récompenses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gamifiées</a:t>
            </a:r>
            <a:endParaRPr lang="en-US" sz="20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Georgia" panose="02040502050405020303" pitchFamily="18" charset="0"/>
              </a:rPr>
              <a:t>Zéro</a:t>
            </a:r>
            <a:r>
              <a:rPr lang="en-US" sz="2000" dirty="0">
                <a:latin typeface="Georgia" panose="02040502050405020303" pitchFamily="18" charset="0"/>
              </a:rPr>
              <a:t> gestion </a:t>
            </a:r>
            <a:r>
              <a:rPr lang="en-US" sz="2000" dirty="0" err="1">
                <a:latin typeface="Georgia" panose="02040502050405020303" pitchFamily="18" charset="0"/>
              </a:rPr>
              <a:t>logistique</a:t>
            </a:r>
            <a:endParaRPr lang="en-US" sz="2000" dirty="0">
              <a:latin typeface="Georgia" panose="02040502050405020303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Georgia" panose="02040502050405020303" pitchFamily="18" charset="0"/>
              </a:rPr>
              <a:t>Affiliation </a:t>
            </a:r>
            <a:r>
              <a:rPr lang="en-US" sz="2000" dirty="0" err="1">
                <a:latin typeface="Georgia" panose="02040502050405020303" pitchFamily="18" charset="0"/>
              </a:rPr>
              <a:t>éthique</a:t>
            </a:r>
            <a:endParaRPr lang="fr-FR" sz="2000" dirty="0">
              <a:latin typeface="Georgia" panose="02040502050405020303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6034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CAF123-4193-8750-5385-115369C8F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dirty="0"/>
              <a:t>Etapes prévus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8BB3A48-9B91-4EA2-2982-A31A3E338D8C}"/>
              </a:ext>
            </a:extLst>
          </p:cNvPr>
          <p:cNvSpPr txBox="1"/>
          <p:nvPr/>
        </p:nvSpPr>
        <p:spPr>
          <a:xfrm>
            <a:off x="531639" y="2405575"/>
            <a:ext cx="5278318" cy="2806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Mois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1 : </a:t>
            </a:r>
            <a:r>
              <a:rPr lang="en-US" sz="2000" dirty="0" err="1">
                <a:latin typeface="Georgia" panose="02040502050405020303" pitchFamily="18" charset="0"/>
              </a:rPr>
              <a:t>Lancement</a:t>
            </a:r>
            <a:r>
              <a:rPr lang="en-US" sz="2000" dirty="0">
                <a:latin typeface="Georgia" panose="02040502050405020303" pitchFamily="18" charset="0"/>
              </a:rPr>
              <a:t> du site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Mois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2-3 : </a:t>
            </a:r>
            <a:r>
              <a:rPr lang="en-US" sz="2000" dirty="0" err="1">
                <a:latin typeface="Georgia" panose="02040502050405020303" pitchFamily="18" charset="0"/>
              </a:rPr>
              <a:t>Intégration</a:t>
            </a:r>
            <a:r>
              <a:rPr lang="en-US" sz="2000" dirty="0">
                <a:latin typeface="Georgia" panose="02040502050405020303" pitchFamily="18" charset="0"/>
              </a:rPr>
              <a:t> des </a:t>
            </a:r>
            <a:r>
              <a:rPr lang="en-US" sz="2000" dirty="0" err="1">
                <a:latin typeface="Georgia" panose="02040502050405020303" pitchFamily="18" charset="0"/>
              </a:rPr>
              <a:t>commerçants</a:t>
            </a:r>
            <a:endParaRPr lang="en-US" sz="2000" dirty="0">
              <a:latin typeface="Georgia" panose="02040502050405020303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Mois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3 : </a:t>
            </a:r>
            <a:r>
              <a:rPr lang="en-US" sz="2000" dirty="0" err="1">
                <a:latin typeface="Georgia" panose="02040502050405020303" pitchFamily="18" charset="0"/>
              </a:rPr>
              <a:t>Déploiement</a:t>
            </a:r>
            <a:r>
              <a:rPr lang="en-US" sz="2000" dirty="0">
                <a:latin typeface="Georgia" panose="02040502050405020303" pitchFamily="18" charset="0"/>
              </a:rPr>
              <a:t> de </a:t>
            </a:r>
            <a:r>
              <a:rPr lang="en-US" sz="2000" dirty="0" err="1">
                <a:latin typeface="Georgia" panose="02040502050405020303" pitchFamily="18" charset="0"/>
              </a:rPr>
              <a:t>l’affiliation</a:t>
            </a:r>
            <a:endParaRPr lang="en-US" sz="2000" dirty="0">
              <a:latin typeface="Georgia" panose="02040502050405020303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Mois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4-5 : </a:t>
            </a:r>
            <a:r>
              <a:rPr lang="en-US" sz="2000" dirty="0">
                <a:latin typeface="Georgia" panose="02040502050405020303" pitchFamily="18" charset="0"/>
              </a:rPr>
              <a:t>Système de points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Mois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6-7 : </a:t>
            </a:r>
            <a:r>
              <a:rPr lang="en-US" sz="2000" dirty="0">
                <a:latin typeface="Georgia" panose="02040502050405020303" pitchFamily="18" charset="0"/>
              </a:rPr>
              <a:t>Application mobile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  <a:latin typeface="Georgia" panose="02040502050405020303" pitchFamily="18" charset="0"/>
              </a:rPr>
              <a:t>Mois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 9-12 :</a:t>
            </a:r>
            <a:r>
              <a:rPr lang="en-US" sz="2000" dirty="0">
                <a:latin typeface="Georgia" panose="02040502050405020303" pitchFamily="18" charset="0"/>
              </a:rPr>
              <a:t> Expansion </a:t>
            </a:r>
            <a:r>
              <a:rPr lang="en-US" sz="2000" dirty="0" err="1">
                <a:latin typeface="Georgia" panose="02040502050405020303" pitchFamily="18" charset="0"/>
              </a:rPr>
              <a:t>régionale</a:t>
            </a:r>
            <a:endParaRPr lang="fr-FR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993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591724-28B4-BC9E-A216-1ED4B8AE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FR" dirty="0"/>
              <a:t>Belor O. DJAGBA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7562C07-BBE7-25EB-4404-85F83DECC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fr-FR" dirty="0"/>
              <a:t>Promoteur de l’entreprise</a:t>
            </a:r>
          </a:p>
        </p:txBody>
      </p:sp>
    </p:spTree>
    <p:extLst>
      <p:ext uri="{BB962C8B-B14F-4D97-AF65-F5344CB8AC3E}">
        <p14:creationId xmlns:p14="http://schemas.microsoft.com/office/powerpoint/2010/main" val="2407133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604</TotalTime>
  <Words>207</Words>
  <Application>Microsoft Office PowerPoint</Application>
  <PresentationFormat>Affichage à l'écran (4:3)</PresentationFormat>
  <Paragraphs>44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Arial</vt:lpstr>
      <vt:lpstr>Calibri</vt:lpstr>
      <vt:lpstr>Georgia</vt:lpstr>
      <vt:lpstr>Trebuchet MS</vt:lpstr>
      <vt:lpstr>Wingdings</vt:lpstr>
      <vt:lpstr>Berlin</vt:lpstr>
      <vt:lpstr>LUXANDA</vt:lpstr>
      <vt:lpstr>SOMMAIRE</vt:lpstr>
      <vt:lpstr>Nom du Projet</vt:lpstr>
      <vt:lpstr>Vision du Projet</vt:lpstr>
      <vt:lpstr>Objectifs principaux</vt:lpstr>
      <vt:lpstr>Cible</vt:lpstr>
      <vt:lpstr>Modèle économique</vt:lpstr>
      <vt:lpstr>Avantages compétitifs</vt:lpstr>
      <vt:lpstr>Etapes prévus</vt:lpstr>
      <vt:lpstr>Belor O. DJAGBA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Belor Odirick DJAGBA</dc:creator>
  <cp:lastModifiedBy>Belor Odirick DJAGBA</cp:lastModifiedBy>
  <cp:revision>4</cp:revision>
  <dcterms:created xsi:type="dcterms:W3CDTF">2025-08-20T08:13:54Z</dcterms:created>
  <dcterms:modified xsi:type="dcterms:W3CDTF">2025-08-20T18:18:48Z</dcterms:modified>
</cp:coreProperties>
</file>