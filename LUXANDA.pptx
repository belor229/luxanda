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141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04552-9687-48EE-9544-2612284DEAC6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6954-B8A3-4583-84A5-DE8A246B1CA4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26954-B8A3-4583-84A5-DE8A246B1CA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>
            <a:fillRect/>
          </a:stretch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>
              <a:fillRect/>
            </a:stretch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>
              <a:fillRect/>
            </a:stretch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636D-D922-432D-A958-524484B592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8FB93-0A08-4E7D-8E63-9EFA29F1E093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7200" b="1" dirty="0"/>
              <a:t>LUXANDA</a:t>
            </a:r>
            <a:endParaRPr lang="fr-FR" sz="72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10242" y="4408107"/>
            <a:ext cx="6108101" cy="1117687"/>
          </a:xfrm>
        </p:spPr>
        <p:txBody>
          <a:bodyPr/>
          <a:lstStyle/>
          <a:p>
            <a:r>
              <a:rPr lang="fr-FR" i="1" dirty="0"/>
              <a:t>Description stratégique du projet</a:t>
            </a:r>
            <a:endParaRPr lang="fr-FR" i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405" y="2581275"/>
            <a:ext cx="2347595" cy="1546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5400" dirty="0"/>
              <a:t>SOMMAIRE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31639" y="2293034"/>
            <a:ext cx="40403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Nom du projet;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Vision du projet;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Objectifs principaux;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Cibles;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Modèle économique;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Avantage compétitif;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Etapes prévus.</a:t>
            </a:r>
            <a:endParaRPr lang="fr-FR" sz="2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Nom du Projet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73723" y="2470017"/>
            <a:ext cx="43328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i="1" dirty="0">
                <a:solidFill>
                  <a:srgbClr val="002060"/>
                </a:solidFill>
              </a:rPr>
              <a:t>LUXANDA</a:t>
            </a:r>
            <a:r>
              <a:rPr lang="fr-FR" sz="2400" b="1" i="1" dirty="0"/>
              <a:t>- Le Marché Virtuel Africain Moderne</a:t>
            </a:r>
            <a:endParaRPr lang="fr-FR" sz="2400" b="1" i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415" y="3429000"/>
            <a:ext cx="3159760" cy="2068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1639" y="2883606"/>
            <a:ext cx="6889150" cy="1090788"/>
          </a:xfrm>
        </p:spPr>
        <p:txBody>
          <a:bodyPr/>
          <a:lstStyle/>
          <a:p>
            <a:r>
              <a:rPr lang="fr-FR" dirty="0"/>
              <a:t>Vision du Projet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err="1"/>
              <a:t>Créer</a:t>
            </a:r>
            <a:r>
              <a:rPr lang="en-US" sz="2200" dirty="0"/>
              <a:t> un </a:t>
            </a:r>
            <a:r>
              <a:rPr lang="en-US" sz="2200" dirty="0" err="1"/>
              <a:t>marché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ligne</a:t>
            </a:r>
            <a:r>
              <a:rPr lang="en-US" sz="2200" dirty="0"/>
              <a:t> </a:t>
            </a:r>
            <a:r>
              <a:rPr lang="en-US" sz="2200" dirty="0" err="1"/>
              <a:t>panafricain</a:t>
            </a:r>
            <a:r>
              <a:rPr lang="en-US" sz="2200" dirty="0"/>
              <a:t> </a:t>
            </a:r>
            <a:r>
              <a:rPr lang="en-US" sz="2200" dirty="0" err="1"/>
              <a:t>fiable</a:t>
            </a:r>
            <a:r>
              <a:rPr lang="en-US" sz="2200" dirty="0"/>
              <a:t>, </a:t>
            </a:r>
            <a:r>
              <a:rPr lang="en-US" sz="2200" dirty="0" err="1"/>
              <a:t>élégant</a:t>
            </a:r>
            <a:r>
              <a:rPr lang="en-US" sz="2200" dirty="0"/>
              <a:t> et accessible, </a:t>
            </a:r>
            <a:r>
              <a:rPr lang="en-US" sz="2200" dirty="0" err="1"/>
              <a:t>mettant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valeur</a:t>
            </a:r>
            <a:r>
              <a:rPr lang="en-US" sz="2200" dirty="0"/>
              <a:t> les </a:t>
            </a:r>
            <a:r>
              <a:rPr lang="en-US" sz="2200" dirty="0" err="1"/>
              <a:t>vendeurs</a:t>
            </a:r>
            <a:r>
              <a:rPr lang="en-US" sz="2200" dirty="0"/>
              <a:t> </a:t>
            </a:r>
            <a:r>
              <a:rPr lang="en-US" sz="2200" dirty="0" err="1"/>
              <a:t>locaux</a:t>
            </a:r>
            <a:r>
              <a:rPr lang="en-US" sz="2200" dirty="0"/>
              <a:t> et </a:t>
            </a:r>
            <a:r>
              <a:rPr lang="en-US" sz="2200" dirty="0" err="1"/>
              <a:t>offrant</a:t>
            </a:r>
            <a:r>
              <a:rPr lang="en-US" sz="2200" dirty="0"/>
              <a:t> </a:t>
            </a:r>
            <a:r>
              <a:rPr lang="en-US" sz="2200" dirty="0" err="1"/>
              <a:t>une</a:t>
            </a:r>
            <a:r>
              <a:rPr lang="en-US" sz="2200" dirty="0"/>
              <a:t> </a:t>
            </a:r>
            <a:r>
              <a:rPr lang="en-US" sz="2200" dirty="0" err="1"/>
              <a:t>expérience</a:t>
            </a:r>
            <a:r>
              <a:rPr lang="en-US" sz="2200" dirty="0"/>
              <a:t> </a:t>
            </a:r>
            <a:r>
              <a:rPr lang="en-US" sz="2200" dirty="0" err="1"/>
              <a:t>utilisateur</a:t>
            </a:r>
            <a:r>
              <a:rPr lang="en-US" sz="2200" dirty="0"/>
              <a:t> </a:t>
            </a:r>
            <a:r>
              <a:rPr lang="en-US" sz="2200" dirty="0" err="1"/>
              <a:t>fluide</a:t>
            </a:r>
            <a:r>
              <a:rPr lang="en-US" sz="2200" dirty="0"/>
              <a:t>, </a:t>
            </a:r>
            <a:r>
              <a:rPr lang="en-US" sz="2200" dirty="0" err="1"/>
              <a:t>motivante</a:t>
            </a:r>
            <a:r>
              <a:rPr lang="en-US" sz="2200" dirty="0"/>
              <a:t> et </a:t>
            </a:r>
            <a:r>
              <a:rPr lang="en-US" sz="2200" dirty="0" err="1"/>
              <a:t>sécurisée</a:t>
            </a:r>
            <a:r>
              <a:rPr lang="en-US" sz="2200" dirty="0"/>
              <a:t>.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Objectifs principaux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815926" y="2546252"/>
            <a:ext cx="5008099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Offrir</a:t>
            </a:r>
            <a:r>
              <a:rPr lang="en-US" sz="2000" dirty="0">
                <a:latin typeface="Georgia" panose="02040502050405020303" pitchFamily="18" charset="0"/>
              </a:rPr>
              <a:t> un </a:t>
            </a:r>
            <a:r>
              <a:rPr lang="en-US" sz="2000" dirty="0" err="1">
                <a:latin typeface="Georgia" panose="02040502050405020303" pitchFamily="18" charset="0"/>
              </a:rPr>
              <a:t>espace</a:t>
            </a:r>
            <a:r>
              <a:rPr lang="en-US" sz="2000" dirty="0">
                <a:latin typeface="Georgia" panose="02040502050405020303" pitchFamily="18" charset="0"/>
              </a:rPr>
              <a:t> de vente premium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Récompenser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l’engagement</a:t>
            </a:r>
            <a:r>
              <a:rPr lang="en-US" sz="2000" dirty="0">
                <a:latin typeface="Georgia" panose="02040502050405020303" pitchFamily="18" charset="0"/>
              </a:rPr>
              <a:t> des </a:t>
            </a:r>
            <a:r>
              <a:rPr lang="en-US" sz="2000" dirty="0" err="1">
                <a:latin typeface="Georgia" panose="02040502050405020303" pitchFamily="18" charset="0"/>
              </a:rPr>
              <a:t>visiteurs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Devenir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une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référence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africaine</a:t>
            </a:r>
            <a:r>
              <a:rPr lang="en-US" sz="2000" dirty="0">
                <a:latin typeface="Georgia" panose="02040502050405020303" pitchFamily="18" charset="0"/>
              </a:rPr>
              <a:t> du commerce </a:t>
            </a:r>
            <a:r>
              <a:rPr lang="en-US" sz="2000" dirty="0" err="1">
                <a:latin typeface="Georgia" panose="02040502050405020303" pitchFamily="18" charset="0"/>
              </a:rPr>
              <a:t>en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ligne</a:t>
            </a:r>
            <a:endParaRPr lang="fr-FR" sz="2000" dirty="0">
              <a:latin typeface="Georgia" panose="02040502050405020303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Cible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31639" y="2293034"/>
            <a:ext cx="463120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Commerçants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 </a:t>
            </a:r>
            <a:r>
              <a:rPr lang="en-US" sz="2000" dirty="0" err="1">
                <a:latin typeface="Georgia" panose="02040502050405020303" pitchFamily="18" charset="0"/>
              </a:rPr>
              <a:t>visibilité</a:t>
            </a:r>
            <a:r>
              <a:rPr lang="en-US" sz="2000" dirty="0">
                <a:latin typeface="Georgia" panose="02040502050405020303" pitchFamily="18" charset="0"/>
              </a:rPr>
              <a:t> et </a:t>
            </a:r>
            <a:r>
              <a:rPr lang="en-US" sz="2000" dirty="0" err="1">
                <a:latin typeface="Georgia" panose="02040502050405020303" pitchFamily="18" charset="0"/>
              </a:rPr>
              <a:t>outils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professionnels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Visiteurs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expérience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fluide</a:t>
            </a:r>
            <a:r>
              <a:rPr lang="en-US" sz="2000" dirty="0">
                <a:latin typeface="Georgia" panose="02040502050405020303" pitchFamily="18" charset="0"/>
              </a:rPr>
              <a:t> et </a:t>
            </a:r>
            <a:r>
              <a:rPr lang="en-US" sz="2000" dirty="0" err="1">
                <a:latin typeface="Georgia" panose="02040502050405020303" pitchFamily="18" charset="0"/>
              </a:rPr>
              <a:t>motivante</a:t>
            </a:r>
            <a:endParaRPr lang="fr-FR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Modèle économique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48640" y="2489835"/>
            <a:ext cx="4974590" cy="3240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Commerçants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</a:t>
            </a:r>
            <a:r>
              <a:rPr lang="en-US" sz="2000" dirty="0">
                <a:latin typeface="Georgia" panose="02040502050405020303" pitchFamily="18" charset="0"/>
              </a:rPr>
              <a:t> abonnements </a:t>
            </a:r>
            <a:r>
              <a:rPr lang="en-US" sz="2000" dirty="0" err="1">
                <a:latin typeface="Georgia" panose="02040502050405020303" pitchFamily="18" charset="0"/>
              </a:rPr>
              <a:t>mensuels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Visiteurs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 </a:t>
            </a:r>
            <a:r>
              <a:rPr lang="en-US" sz="2000" dirty="0" err="1">
                <a:latin typeface="Georgia" panose="02040502050405020303" pitchFamily="18" charset="0"/>
              </a:rPr>
              <a:t>accès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gratuit</a:t>
            </a:r>
            <a:r>
              <a:rPr lang="en-US" sz="2000" dirty="0">
                <a:latin typeface="Georgia" panose="02040502050405020303" pitchFamily="18" charset="0"/>
              </a:rPr>
              <a:t> + points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Offres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annexes : </a:t>
            </a:r>
            <a:r>
              <a:rPr lang="en-US" sz="2000" dirty="0">
                <a:latin typeface="Georgia" panose="02040502050405020303" pitchFamily="18" charset="0"/>
              </a:rPr>
              <a:t>sponsoring, </a:t>
            </a:r>
            <a:r>
              <a:rPr lang="en-US" sz="2000" dirty="0" err="1">
                <a:latin typeface="Georgia" panose="02040502050405020303" pitchFamily="18" charset="0"/>
              </a:rPr>
              <a:t>visibilité</a:t>
            </a:r>
            <a:endParaRPr lang="fr-FR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Avantages compétitifs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801858" y="2419643"/>
            <a:ext cx="4951828" cy="2830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100 % local, </a:t>
            </a:r>
            <a:r>
              <a:rPr lang="en-US" sz="2000" dirty="0" err="1">
                <a:latin typeface="Georgia" panose="02040502050405020303" pitchFamily="18" charset="0"/>
              </a:rPr>
              <a:t>adapté</a:t>
            </a:r>
            <a:r>
              <a:rPr lang="en-US" sz="2000" dirty="0">
                <a:latin typeface="Georgia" panose="02040502050405020303" pitchFamily="18" charset="0"/>
              </a:rPr>
              <a:t> au </a:t>
            </a:r>
            <a:r>
              <a:rPr lang="en-US" sz="2000" dirty="0" err="1">
                <a:latin typeface="Georgia" panose="02040502050405020303" pitchFamily="18" charset="0"/>
              </a:rPr>
              <a:t>contexte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africain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Interface simple et </a:t>
            </a:r>
            <a:r>
              <a:rPr lang="en-US" sz="2000" dirty="0" err="1">
                <a:latin typeface="Georgia" panose="02040502050405020303" pitchFamily="18" charset="0"/>
              </a:rPr>
              <a:t>rapide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Georgia" panose="02040502050405020303" pitchFamily="18" charset="0"/>
              </a:rPr>
              <a:t>Récompenses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gamifiées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Georgia" panose="02040502050405020303" pitchFamily="18" charset="0"/>
              </a:rPr>
              <a:t>Zéro</a:t>
            </a:r>
            <a:r>
              <a:rPr lang="en-US" sz="2000" dirty="0">
                <a:latin typeface="Georgia" panose="02040502050405020303" pitchFamily="18" charset="0"/>
              </a:rPr>
              <a:t> gestion </a:t>
            </a:r>
            <a:r>
              <a:rPr lang="en-US" sz="2000" dirty="0" err="1">
                <a:latin typeface="Georgia" panose="02040502050405020303" pitchFamily="18" charset="0"/>
              </a:rPr>
              <a:t>logistique</a:t>
            </a:r>
            <a:endParaRPr lang="fr-FR" sz="2000" dirty="0">
              <a:latin typeface="Georgia" panose="02040502050405020303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Etapes prévus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31639" y="2405575"/>
            <a:ext cx="5278318" cy="280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1 : </a:t>
            </a:r>
            <a:r>
              <a:rPr lang="en-US" sz="2000" dirty="0" err="1">
                <a:latin typeface="Georgia" panose="02040502050405020303" pitchFamily="18" charset="0"/>
              </a:rPr>
              <a:t>Lancement</a:t>
            </a:r>
            <a:r>
              <a:rPr lang="en-US" sz="2000" dirty="0">
                <a:latin typeface="Georgia" panose="02040502050405020303" pitchFamily="18" charset="0"/>
              </a:rPr>
              <a:t> du site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2-3 : </a:t>
            </a:r>
            <a:r>
              <a:rPr lang="en-US" sz="2000" dirty="0" err="1">
                <a:latin typeface="Georgia" panose="02040502050405020303" pitchFamily="18" charset="0"/>
              </a:rPr>
              <a:t>Intégration</a:t>
            </a:r>
            <a:r>
              <a:rPr lang="en-US" sz="2000" dirty="0">
                <a:latin typeface="Georgia" panose="02040502050405020303" pitchFamily="18" charset="0"/>
              </a:rPr>
              <a:t> des </a:t>
            </a:r>
            <a:r>
              <a:rPr lang="en-US" sz="2000" dirty="0" err="1">
                <a:latin typeface="Georgia" panose="02040502050405020303" pitchFamily="18" charset="0"/>
              </a:rPr>
              <a:t>commerçants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3 : </a:t>
            </a:r>
            <a:r>
              <a:rPr lang="en-US" sz="2000" dirty="0" err="1">
                <a:latin typeface="Georgia" panose="02040502050405020303" pitchFamily="18" charset="0"/>
              </a:rPr>
              <a:t>Déploiement</a:t>
            </a:r>
            <a:r>
              <a:rPr lang="en-US" sz="2000" dirty="0">
                <a:latin typeface="Georgia" panose="02040502050405020303" pitchFamily="18" charset="0"/>
              </a:rPr>
              <a:t> de </a:t>
            </a:r>
            <a:r>
              <a:rPr lang="en-US" sz="2000" dirty="0" err="1">
                <a:latin typeface="Georgia" panose="02040502050405020303" pitchFamily="18" charset="0"/>
              </a:rPr>
              <a:t>l’affiliation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4-5 : </a:t>
            </a:r>
            <a:r>
              <a:rPr lang="en-US" sz="2000" dirty="0">
                <a:latin typeface="Georgia" panose="02040502050405020303" pitchFamily="18" charset="0"/>
              </a:rPr>
              <a:t>Système de points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6-7 : </a:t>
            </a:r>
            <a:r>
              <a:rPr lang="en-US" sz="2000" dirty="0">
                <a:latin typeface="Georgia" panose="02040502050405020303" pitchFamily="18" charset="0"/>
              </a:rPr>
              <a:t>Application mobile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9-12 :</a:t>
            </a:r>
            <a:r>
              <a:rPr lang="en-US" sz="2000" dirty="0">
                <a:latin typeface="Georgia" panose="02040502050405020303" pitchFamily="18" charset="0"/>
              </a:rPr>
              <a:t> Expansion </a:t>
            </a:r>
            <a:r>
              <a:rPr lang="en-US" sz="2000" dirty="0" err="1">
                <a:latin typeface="Georgia" panose="02040502050405020303" pitchFamily="18" charset="0"/>
              </a:rPr>
              <a:t>régionale</a:t>
            </a:r>
            <a:endParaRPr lang="fr-FR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Belor Odirick D.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Promoteur de l’entreprise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0</TotalTime>
  <Words>1143</Words>
  <Application>WPS Presentation</Application>
  <PresentationFormat>Affichage à l'écran (4:3)</PresentationFormat>
  <Paragraphs>62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Georgia</vt:lpstr>
      <vt:lpstr>Trebuchet MS</vt:lpstr>
      <vt:lpstr>Microsoft YaHei</vt:lpstr>
      <vt:lpstr>Arial Unicode MS</vt:lpstr>
      <vt:lpstr>Calibri</vt:lpstr>
      <vt:lpstr>Berlin</vt:lpstr>
      <vt:lpstr>LUXANDA</vt:lpstr>
      <vt:lpstr>SOMMAIRE</vt:lpstr>
      <vt:lpstr>Nom du Projet</vt:lpstr>
      <vt:lpstr>Vision du Projet</vt:lpstr>
      <vt:lpstr>Objectifs principaux</vt:lpstr>
      <vt:lpstr>Cible</vt:lpstr>
      <vt:lpstr>Modèle économique</vt:lpstr>
      <vt:lpstr>Avantages compétitifs</vt:lpstr>
      <vt:lpstr>Etapes prévus</vt:lpstr>
      <vt:lpstr>Belor O. DJAGBA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Belor Odirick DJAGBA</dc:creator>
  <cp:lastModifiedBy>DJAGBA Belor</cp:lastModifiedBy>
  <cp:revision>5</cp:revision>
  <dcterms:created xsi:type="dcterms:W3CDTF">2025-08-20T08:13:00Z</dcterms:created>
  <dcterms:modified xsi:type="dcterms:W3CDTF">2026-02-01T16:42:43Z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806B1BDCFC424A1EBE9F64FECA60DA2F_12</vt:lpwstr>
  </property>
  <property fmtid="{D5CDD505-2E9C-101B-9397-08002B2CF9AE}" pid="3" name="KSOProductBuildVer">
    <vt:lpwstr>1036-12.2.0.23196</vt:lpwstr>
  </property>
</Properties>
</file>